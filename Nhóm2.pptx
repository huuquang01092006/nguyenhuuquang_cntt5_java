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89" r:id="rId6"/>
    <p:sldId id="326" r:id="rId7"/>
    <p:sldId id="294" r:id="rId8"/>
    <p:sldId id="295" r:id="rId9"/>
    <p:sldId id="318" r:id="rId10"/>
    <p:sldId id="322" r:id="rId11"/>
    <p:sldId id="324" r:id="rId12"/>
    <p:sldId id="323" r:id="rId13"/>
    <p:sldId id="320" r:id="rId14"/>
    <p:sldId id="325" r:id="rId15"/>
    <p:sldId id="317" r:id="rId16"/>
    <p:sldId id="269" r:id="rId17"/>
  </p:sldIdLst>
  <p:sldSz cx="12192000" cy="6858000"/>
  <p:notesSz cx="6858000" cy="9144000"/>
  <p:embeddedFontLst>
    <p:embeddedFont>
      <p:font typeface="Montserrat ExtraBold" panose="020B0604020202020204" charset="0"/>
      <p:bold r:id="rId19"/>
      <p:italic r:id="rId20"/>
      <p:boldItalic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Montserrat Medium" panose="020B0604020202020204" charset="0"/>
      <p:regular r:id="rId26"/>
      <p:bold r:id="rId27"/>
      <p:italic r:id="rId28"/>
      <p:boldItalic r:id="rId29"/>
    </p:embeddedFont>
    <p:embeddedFont>
      <p:font typeface="Trebuchet MS" panose="020B0603020202020204" pitchFamily="34" charset="0"/>
      <p:regular r:id="rId30"/>
      <p:bold r:id="rId31"/>
      <p:italic r:id="rId32"/>
      <p:boldItalic r:id="rId33"/>
    </p:embeddedFont>
    <p:embeddedFont>
      <p:font typeface="Montserrat" panose="020B0604020202020204" charset="0"/>
      <p:regular r:id="rId34"/>
      <p:bold r:id="rId35"/>
      <p:italic r:id="rId36"/>
      <p:boldItalic r:id="rId37"/>
    </p:embeddedFont>
    <p:embeddedFont>
      <p:font typeface="Montserrat Black" panose="020B0604020202020204" charset="0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gOMEprGSeSrGFtLjYVn/0cz7NW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DDE"/>
    <a:srgbClr val="EC585D"/>
    <a:srgbClr val="FF6168"/>
    <a:srgbClr val="FF0000"/>
    <a:srgbClr val="F6CFD0"/>
    <a:srgbClr val="FF0300"/>
    <a:srgbClr val="C00000"/>
    <a:srgbClr val="FF2A00"/>
    <a:srgbClr val="F32600"/>
    <a:srgbClr val="FF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027BA-E53D-444C-AB0D-490567FEE10E}" v="87" dt="2024-05-06T03:15:06.5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81"/>
    <p:restoredTop sz="94663"/>
  </p:normalViewPr>
  <p:slideViewPr>
    <p:cSldViewPr snapToGrid="0">
      <p:cViewPr varScale="1">
        <p:scale>
          <a:sx n="81" d="100"/>
          <a:sy n="81" d="100"/>
        </p:scale>
        <p:origin x="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font" Target="fonts/font21.fntdata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font" Target="fonts/font2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1bb26f517d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g11bb26f517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71" name="Google Shape;1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ca9f35dc4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2cca9f35dc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3" name="Google Shape;183;g2cca9f35dc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EAF8D680-987A-10E2-3111-1B5E11C4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457851EF-4AB5-DE7A-F63A-F4390AA615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9F4E019C-6EC9-7204-4FE6-47F9AEAAA7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65659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26875A7E-1E74-7ADE-3567-192686A8A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ca9f35dc4_0_6:notes">
            <a:extLst>
              <a:ext uri="{FF2B5EF4-FFF2-40B4-BE49-F238E27FC236}">
                <a16:creationId xmlns:a16="http://schemas.microsoft.com/office/drawing/2014/main" id="{4DFDEF9B-1178-ACF7-6B2F-CF88C8D30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2cca9f35dc4_0_6:notes">
            <a:extLst>
              <a:ext uri="{FF2B5EF4-FFF2-40B4-BE49-F238E27FC236}">
                <a16:creationId xmlns:a16="http://schemas.microsoft.com/office/drawing/2014/main" id="{DEF0D9F5-C82A-60E5-82EE-FFB61B4F4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2384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D12D901D-9A70-6D06-8F97-0DBEB47CE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D4546D04-0717-2A52-B675-609FE1CD0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CBBBF77F-CA73-C8FB-FE0D-93F6A1781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992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863034D0-D1DA-9829-0171-06F4FC06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EE2DCB7F-1EAB-C8FD-9195-3F0D6A84A9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E56FE468-3205-86B1-1504-7EF611920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65444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A7200485-6433-0892-90C6-B81575545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5710B7BB-04CB-C0BA-2205-67A8510BE4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ECB517F9-6BD7-71A4-7A37-EC14322EA0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5829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1165828F-A3EF-F408-C7DB-B27C61E86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6555511E-838F-F5C5-490F-670B7B075B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5790CAFB-1029-1219-4B8A-36D86AD013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7606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B7E52F37-E588-9FE3-59A3-98BD30D6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4292E257-9927-3D55-F6FA-C23204EBF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26B1A3B8-48A6-AED3-E69C-28EA7435D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3078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3FA3F947-580B-3885-66F2-1BB3E4EFB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DDDC7E84-4678-AADD-7D96-3EE4A1C7D6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4E6306B8-6EDF-9C42-5619-561A8D4993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8078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4A25B539-7F39-3F2D-B072-FA753800E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C3435B73-9FAA-96E8-2173-EBA30E5199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1908851D-710E-64AE-AA84-480F0DD092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2378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B5F82A9E-B680-3235-C856-3133E4B43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B0AB5BDD-11CA-A495-F205-B7EB0E0297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F23148F7-4903-4092-224E-2B13E84CD8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9457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BC383D43-8BBC-3DBC-51A3-0239BC4CF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ca9f35dc4_0_11:notes">
            <a:extLst>
              <a:ext uri="{FF2B5EF4-FFF2-40B4-BE49-F238E27FC236}">
                <a16:creationId xmlns:a16="http://schemas.microsoft.com/office/drawing/2014/main" id="{4672A7C5-D389-8575-2FD8-F15657F465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g2cca9f35dc4_0_11:notes">
            <a:extLst>
              <a:ext uri="{FF2B5EF4-FFF2-40B4-BE49-F238E27FC236}">
                <a16:creationId xmlns:a16="http://schemas.microsoft.com/office/drawing/2014/main" id="{320FA7F2-2304-7D77-0D80-837AFAB7C6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03901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4"/>
          <p:cNvSpPr txBox="1">
            <a:spLocks noGrp="1"/>
          </p:cNvSpPr>
          <p:nvPr>
            <p:ph type="ctrTitle"/>
          </p:nvPr>
        </p:nvSpPr>
        <p:spPr>
          <a:xfrm>
            <a:off x="1697669" y="3351966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ExtraBold"/>
              <a:buNone/>
              <a:defRPr sz="4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subTitle" idx="1"/>
          </p:nvPr>
        </p:nvSpPr>
        <p:spPr>
          <a:xfrm>
            <a:off x="1697669" y="4071966"/>
            <a:ext cx="5041797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ABAB"/>
              </a:buClr>
              <a:buSzPts val="2800"/>
              <a:buNone/>
              <a:defRPr>
                <a:solidFill>
                  <a:srgbClr val="AEABAB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9810" y="1223962"/>
            <a:ext cx="44386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4"/>
          <p:cNvSpPr/>
          <p:nvPr/>
        </p:nvSpPr>
        <p:spPr>
          <a:xfrm rot="5400000">
            <a:off x="-307571" y="2821864"/>
            <a:ext cx="1446414" cy="831272"/>
          </a:xfrm>
          <a:prstGeom prst="triangle">
            <a:avLst>
              <a:gd name="adj" fmla="val 50000"/>
            </a:avLst>
          </a:prstGeom>
          <a:solidFill>
            <a:srgbClr val="BE2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22;p34"/>
          <p:cNvSpPr txBox="1">
            <a:spLocks noGrp="1"/>
          </p:cNvSpPr>
          <p:nvPr>
            <p:ph type="body" idx="2"/>
          </p:nvPr>
        </p:nvSpPr>
        <p:spPr>
          <a:xfrm>
            <a:off x="1562203" y="1974293"/>
            <a:ext cx="297852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9600"/>
              <a:buNone/>
              <a:defRPr sz="9600" b="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23" name="Google Shape;23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5325" y="5268225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sz="2800" b="1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2" name="Google Shape;42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5"/>
          <p:cNvSpPr txBox="1">
            <a:spLocks noGrp="1"/>
          </p:cNvSpPr>
          <p:nvPr>
            <p:ph type="sldNum" idx="12"/>
          </p:nvPr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45"/>
          <p:cNvSpPr txBox="1">
            <a:spLocks noGrp="1"/>
          </p:cNvSpPr>
          <p:nvPr>
            <p:ph type="body" idx="1"/>
          </p:nvPr>
        </p:nvSpPr>
        <p:spPr>
          <a:xfrm>
            <a:off x="838200" y="1680599"/>
            <a:ext cx="10641676" cy="5040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116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marL="914400" lvl="1" indent="-31089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Courier New"/>
              <a:buChar char="o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6" name="Google Shape;46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11667" y="-83672"/>
            <a:ext cx="12640676" cy="701787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0"/>
          <p:cNvSpPr txBox="1">
            <a:spLocks noGrp="1"/>
          </p:cNvSpPr>
          <p:nvPr>
            <p:ph type="ctrTitle"/>
          </p:nvPr>
        </p:nvSpPr>
        <p:spPr>
          <a:xfrm>
            <a:off x="279991" y="3969209"/>
            <a:ext cx="9144000" cy="146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0"/>
          <p:cNvSpPr txBox="1">
            <a:spLocks noGrp="1"/>
          </p:cNvSpPr>
          <p:nvPr>
            <p:ph type="subTitle" idx="1"/>
          </p:nvPr>
        </p:nvSpPr>
        <p:spPr>
          <a:xfrm>
            <a:off x="279991" y="543362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1" name="Google Shape;5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42381" y="-123349"/>
            <a:ext cx="7133810" cy="709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000" y="322051"/>
            <a:ext cx="3225201" cy="15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>
            <a:spLocks noGrp="1"/>
          </p:cNvSpPr>
          <p:nvPr>
            <p:ph type="title"/>
          </p:nvPr>
        </p:nvSpPr>
        <p:spPr>
          <a:xfrm>
            <a:off x="1974966" y="2521987"/>
            <a:ext cx="807635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  <a:defRPr sz="6000" b="1">
                <a:solidFill>
                  <a:srgbClr val="C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1989667" y="3847550"/>
            <a:ext cx="807635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35"/>
          <p:cNvSpPr/>
          <p:nvPr/>
        </p:nvSpPr>
        <p:spPr>
          <a:xfrm rot="10800000">
            <a:off x="5289935" y="1559948"/>
            <a:ext cx="1446414" cy="831272"/>
          </a:xfrm>
          <a:prstGeom prst="triangle">
            <a:avLst>
              <a:gd name="adj" fmla="val 50000"/>
            </a:avLst>
          </a:prstGeom>
          <a:solidFill>
            <a:srgbClr val="BE2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" name="Google Shape;5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2013" y="5255650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6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36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sz="2800" b="1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 with Caption">
  <p:cSld name="2_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>
            <a:spLocks noGrp="1"/>
          </p:cNvSpPr>
          <p:nvPr>
            <p:ph type="body" idx="1"/>
          </p:nvPr>
        </p:nvSpPr>
        <p:spPr>
          <a:xfrm>
            <a:off x="3818313" y="3901864"/>
            <a:ext cx="4555374" cy="2169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67" name="Google Shape;67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2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  <a:defRPr sz="3200" b="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1" name="Google Shape;7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838200" y="3858704"/>
            <a:ext cx="2860964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9"/>
          <p:cNvSpPr txBox="1">
            <a:spLocks noGrp="1"/>
          </p:cNvSpPr>
          <p:nvPr>
            <p:ph type="body" idx="1"/>
          </p:nvPr>
        </p:nvSpPr>
        <p:spPr>
          <a:xfrm>
            <a:off x="746918" y="3882043"/>
            <a:ext cx="3816769" cy="2169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5" name="Google Shape;75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9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39"/>
          <p:cNvSpPr txBox="1">
            <a:spLocks noGrp="1"/>
          </p:cNvSpPr>
          <p:nvPr>
            <p:ph type="body" idx="2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sz="2800" b="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79" name="Google Shape;79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0"/>
          <p:cNvSpPr txBox="1">
            <a:spLocks noGrp="1"/>
          </p:cNvSpPr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ubTitle" idx="1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4" name="Google Shape;8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61198" y="4951700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1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1"/>
          <p:cNvSpPr txBox="1">
            <a:spLocks noGrp="1"/>
          </p:cNvSpPr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1"/>
          <p:cNvSpPr txBox="1">
            <a:spLocks noGrp="1"/>
          </p:cNvSpPr>
          <p:nvPr>
            <p:ph type="subTitle" idx="1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96" name="Google Shape;9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10423" y="2015275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713" y="0"/>
            <a:ext cx="12352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3"/>
          <p:cNvSpPr txBox="1">
            <a:spLocks noGrp="1"/>
          </p:cNvSpPr>
          <p:nvPr>
            <p:ph type="title"/>
          </p:nvPr>
        </p:nvSpPr>
        <p:spPr>
          <a:xfrm rot="5400000">
            <a:off x="-1225840" y="973773"/>
            <a:ext cx="4164099" cy="184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Black"/>
              <a:buNone/>
              <a:defRPr sz="6000" b="1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33"/>
          <p:cNvSpPr txBox="1">
            <a:spLocks noGrp="1"/>
          </p:cNvSpPr>
          <p:nvPr>
            <p:ph type="body" idx="1"/>
          </p:nvPr>
        </p:nvSpPr>
        <p:spPr>
          <a:xfrm>
            <a:off x="2394064" y="2759840"/>
            <a:ext cx="1122220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>
                <a:solidFill>
                  <a:schemeClr val="lt1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33"/>
          <p:cNvSpPr txBox="1">
            <a:spLocks noGrp="1"/>
          </p:cNvSpPr>
          <p:nvPr>
            <p:ph type="body" idx="2"/>
          </p:nvPr>
        </p:nvSpPr>
        <p:spPr>
          <a:xfrm>
            <a:off x="3516284" y="28884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33"/>
          <p:cNvSpPr txBox="1">
            <a:spLocks noGrp="1"/>
          </p:cNvSpPr>
          <p:nvPr>
            <p:ph type="body" idx="3"/>
          </p:nvPr>
        </p:nvSpPr>
        <p:spPr>
          <a:xfrm>
            <a:off x="2310942" y="4349625"/>
            <a:ext cx="1205342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>
                <a:solidFill>
                  <a:schemeClr val="lt1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33"/>
          <p:cNvSpPr txBox="1">
            <a:spLocks noGrp="1"/>
          </p:cNvSpPr>
          <p:nvPr>
            <p:ph type="body" idx="4"/>
          </p:nvPr>
        </p:nvSpPr>
        <p:spPr>
          <a:xfrm>
            <a:off x="3516284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33"/>
          <p:cNvSpPr txBox="1">
            <a:spLocks noGrp="1"/>
          </p:cNvSpPr>
          <p:nvPr>
            <p:ph type="body" idx="5"/>
          </p:nvPr>
        </p:nvSpPr>
        <p:spPr>
          <a:xfrm>
            <a:off x="7245926" y="2759840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>
                <a:solidFill>
                  <a:schemeClr val="lt1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3"/>
          <p:cNvSpPr txBox="1">
            <a:spLocks noGrp="1"/>
          </p:cNvSpPr>
          <p:nvPr>
            <p:ph type="body" idx="6"/>
          </p:nvPr>
        </p:nvSpPr>
        <p:spPr>
          <a:xfrm>
            <a:off x="8448502" y="2888427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33"/>
          <p:cNvSpPr txBox="1">
            <a:spLocks noGrp="1"/>
          </p:cNvSpPr>
          <p:nvPr>
            <p:ph type="body" idx="7"/>
          </p:nvPr>
        </p:nvSpPr>
        <p:spPr>
          <a:xfrm>
            <a:off x="7245926" y="4349625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 b="1">
                <a:solidFill>
                  <a:schemeClr val="lt1"/>
                </a:solidFill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sz="4000" b="1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33"/>
          <p:cNvSpPr txBox="1">
            <a:spLocks noGrp="1"/>
          </p:cNvSpPr>
          <p:nvPr>
            <p:ph type="body" idx="8"/>
          </p:nvPr>
        </p:nvSpPr>
        <p:spPr>
          <a:xfrm>
            <a:off x="8448502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sz="2000" b="1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33"/>
          <p:cNvSpPr txBox="1">
            <a:spLocks noGrp="1"/>
          </p:cNvSpPr>
          <p:nvPr>
            <p:ph type="body" idx="9"/>
          </p:nvPr>
        </p:nvSpPr>
        <p:spPr>
          <a:xfrm>
            <a:off x="3516283" y="3284445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33"/>
          <p:cNvSpPr txBox="1">
            <a:spLocks noGrp="1"/>
          </p:cNvSpPr>
          <p:nvPr>
            <p:ph type="body" idx="13"/>
          </p:nvPr>
        </p:nvSpPr>
        <p:spPr>
          <a:xfrm>
            <a:off x="3516283" y="4874231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33"/>
          <p:cNvSpPr txBox="1">
            <a:spLocks noGrp="1"/>
          </p:cNvSpPr>
          <p:nvPr>
            <p:ph type="body" idx="14"/>
          </p:nvPr>
        </p:nvSpPr>
        <p:spPr>
          <a:xfrm>
            <a:off x="8448501" y="3284444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33"/>
          <p:cNvSpPr txBox="1">
            <a:spLocks noGrp="1"/>
          </p:cNvSpPr>
          <p:nvPr>
            <p:ph type="body" idx="15"/>
          </p:nvPr>
        </p:nvSpPr>
        <p:spPr>
          <a:xfrm>
            <a:off x="8448500" y="48937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15" name="Google Shape;11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55475" y="328227"/>
            <a:ext cx="1809802" cy="88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7"/>
          <p:cNvSpPr txBox="1">
            <a:spLocks noGrp="1"/>
          </p:cNvSpPr>
          <p:nvPr>
            <p:ph type="body" idx="1"/>
          </p:nvPr>
        </p:nvSpPr>
        <p:spPr>
          <a:xfrm>
            <a:off x="838199" y="3672580"/>
            <a:ext cx="3932237" cy="1405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118" name="Google Shape;11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12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47"/>
          <p:cNvSpPr txBox="1">
            <a:spLocks noGrp="1"/>
          </p:cNvSpPr>
          <p:nvPr>
            <p:ph type="body" idx="2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sz="2800" b="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47"/>
          <p:cNvSpPr txBox="1">
            <a:spLocks noGrp="1"/>
          </p:cNvSpPr>
          <p:nvPr>
            <p:ph type="body" idx="3"/>
          </p:nvPr>
        </p:nvSpPr>
        <p:spPr>
          <a:xfrm>
            <a:off x="5170488" y="1346200"/>
            <a:ext cx="6375400" cy="488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3" name="Google Shape;123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4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8" name="Google Shape;128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g128e061f2de_0_109"/>
          <p:cNvCxnSpPr/>
          <p:nvPr/>
        </p:nvCxnSpPr>
        <p:spPr>
          <a:xfrm>
            <a:off x="575800" y="6322471"/>
            <a:ext cx="11040300" cy="0"/>
          </a:xfrm>
          <a:prstGeom prst="straightConnector1">
            <a:avLst/>
          </a:prstGeom>
          <a:noFill/>
          <a:ln w="9525" cap="flat" cmpd="sng">
            <a:solidFill>
              <a:srgbClr val="C6C5C5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5" name="Google Shape;145;g128e061f2de_0_109"/>
          <p:cNvSpPr txBox="1">
            <a:spLocks noGrp="1"/>
          </p:cNvSpPr>
          <p:nvPr>
            <p:ph type="title"/>
          </p:nvPr>
        </p:nvSpPr>
        <p:spPr>
          <a:xfrm>
            <a:off x="415600" y="284933"/>
            <a:ext cx="113607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3700"/>
              <a:buFont typeface="Trebuchet MS"/>
              <a:buNone/>
              <a:defRPr>
                <a:solidFill>
                  <a:srgbClr val="56657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cxnSp>
        <p:nvCxnSpPr>
          <p:cNvPr id="146" name="Google Shape;146;g128e061f2de_0_109"/>
          <p:cNvCxnSpPr/>
          <p:nvPr/>
        </p:nvCxnSpPr>
        <p:spPr>
          <a:xfrm>
            <a:off x="575800" y="1002333"/>
            <a:ext cx="11040300" cy="0"/>
          </a:xfrm>
          <a:prstGeom prst="straightConnector1">
            <a:avLst/>
          </a:prstGeom>
          <a:noFill/>
          <a:ln w="9525" cap="flat" cmpd="sng">
            <a:solidFill>
              <a:srgbClr val="C6C5C5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7" name="Google Shape;147;g128e061f2de_0_109">
            <a:hlinkClick r:id="" action="ppaction://hlinkshowjump?jump=previousslide"/>
          </p:cNvPr>
          <p:cNvSpPr/>
          <p:nvPr/>
        </p:nvSpPr>
        <p:spPr>
          <a:xfrm rot="2700000">
            <a:off x="11348840" y="6420393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128e061f2de_0_109"/>
          <p:cNvSpPr/>
          <p:nvPr/>
        </p:nvSpPr>
        <p:spPr>
          <a:xfrm>
            <a:off x="579075" y="6315167"/>
            <a:ext cx="506400" cy="232800"/>
          </a:xfrm>
          <a:prstGeom prst="rect">
            <a:avLst/>
          </a:prstGeom>
          <a:solidFill>
            <a:srgbClr val="C6C5C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128e061f2de_0_109">
            <a:hlinkClick r:id="" action="ppaction://hlinkshowjump?jump=nextslide"/>
          </p:cNvPr>
          <p:cNvSpPr/>
          <p:nvPr/>
        </p:nvSpPr>
        <p:spPr>
          <a:xfrm rot="-8100000">
            <a:off x="11508840" y="6420194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128e061f2de_0_109"/>
          <p:cNvSpPr txBox="1">
            <a:spLocks noGrp="1"/>
          </p:cNvSpPr>
          <p:nvPr>
            <p:ph type="sldNum" idx="12"/>
          </p:nvPr>
        </p:nvSpPr>
        <p:spPr>
          <a:xfrm>
            <a:off x="579067" y="6315167"/>
            <a:ext cx="5064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g128e061f2de_0_109"/>
          <p:cNvSpPr txBox="1"/>
          <p:nvPr/>
        </p:nvSpPr>
        <p:spPr>
          <a:xfrm>
            <a:off x="9204248" y="6246912"/>
            <a:ext cx="20436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C6C5C5"/>
                </a:solidFill>
                <a:latin typeface="Arial"/>
                <a:ea typeface="Arial"/>
                <a:cs typeface="Arial"/>
                <a:sym typeface="Arial"/>
              </a:rPr>
              <a:t>www.companyname.com</a:t>
            </a:r>
            <a:endParaRPr sz="1200" b="0" i="0" u="none" strike="noStrike" cap="none">
              <a:solidFill>
                <a:srgbClr val="C6C5C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sz="4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9"/>
          <p:cNvSpPr txBox="1"/>
          <p:nvPr/>
        </p:nvSpPr>
        <p:spPr>
          <a:xfrm>
            <a:off x="1981200" y="6338813"/>
            <a:ext cx="712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2022 By Rikkei Academy - Rikkei Education - All rights reserved.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bb26f517d_0_1"/>
          <p:cNvSpPr txBox="1">
            <a:spLocks noGrp="1"/>
          </p:cNvSpPr>
          <p:nvPr>
            <p:ph type="ctrTitle"/>
          </p:nvPr>
        </p:nvSpPr>
        <p:spPr>
          <a:xfrm>
            <a:off x="1277872" y="839094"/>
            <a:ext cx="8640813" cy="155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"/>
              </a:rPr>
              <a:t>ỨNG DỤNG CONSOLE JAVA</a:t>
            </a:r>
            <a:r>
              <a:rPr lang="en-US" dirty="0">
                <a:solidFill>
                  <a:schemeClr val="tx1"/>
                </a:solidFill>
                <a:latin typeface=""/>
              </a:rPr>
              <a:t/>
            </a:r>
            <a:br>
              <a:rPr lang="en-US" dirty="0">
                <a:solidFill>
                  <a:schemeClr val="tx1"/>
                </a:solidFill>
                <a:latin typeface=""/>
              </a:rPr>
            </a:br>
            <a:endParaRPr dirty="0">
              <a:solidFill>
                <a:schemeClr val="tx1"/>
              </a:solidFill>
              <a:latin typeface=""/>
            </a:endParaRPr>
          </a:p>
        </p:txBody>
      </p:sp>
      <p:sp>
        <p:nvSpPr>
          <p:cNvPr id="157" name="Google Shape;157;g11bb26f517d_0_1"/>
          <p:cNvSpPr txBox="1">
            <a:spLocks noGrp="1"/>
          </p:cNvSpPr>
          <p:nvPr>
            <p:ph type="subTitle" idx="1"/>
          </p:nvPr>
        </p:nvSpPr>
        <p:spPr>
          <a:xfrm>
            <a:off x="1054200" y="2717225"/>
            <a:ext cx="5041800" cy="487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rPr lang="en-US" sz="1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NHÓM: 1</a:t>
            </a:r>
            <a:endParaRPr sz="1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endParaRPr sz="18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endParaRPr sz="18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g11bb26f517d_0_1"/>
          <p:cNvSpPr txBox="1">
            <a:spLocks noGrp="1"/>
          </p:cNvSpPr>
          <p:nvPr>
            <p:ph type="body" idx="2"/>
          </p:nvPr>
        </p:nvSpPr>
        <p:spPr>
          <a:xfrm>
            <a:off x="1375844" y="377569"/>
            <a:ext cx="8154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9600"/>
              <a:buNone/>
            </a:pPr>
            <a:r>
              <a:rPr lang="en-US" sz="4000" dirty="0"/>
              <a:t>MINI PROJECT </a:t>
            </a:r>
            <a:endParaRPr sz="4000" dirty="0"/>
          </a:p>
        </p:txBody>
      </p:sp>
      <p:sp>
        <p:nvSpPr>
          <p:cNvPr id="159" name="Google Shape;159;g11bb26f517d_0_1"/>
          <p:cNvSpPr txBox="1"/>
          <p:nvPr/>
        </p:nvSpPr>
        <p:spPr>
          <a:xfrm>
            <a:off x="1151862" y="2871026"/>
            <a:ext cx="4846475" cy="2465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vi-V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Nguyễn Văn </a:t>
            </a:r>
            <a:r>
              <a:rPr lang="vi-VN" sz="2000" b="1" dirty="0" smtClean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Hiếu</a:t>
            </a:r>
            <a:r>
              <a:rPr lang="en-US" sz="2000" b="1" dirty="0" smtClean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(Leader)</a:t>
            </a:r>
            <a:endParaRPr lang="vi-VN"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Nguyễn Hải Đăng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Đỗ Hồng Kỳ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Nguyễn Thanh Tùng</a:t>
            </a:r>
          </a:p>
          <a:p>
            <a:pPr>
              <a:lnSpc>
                <a:spcPct val="150000"/>
              </a:lnSpc>
            </a:pPr>
            <a:r>
              <a:rPr lang="vi-VN" sz="20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Trần Thị Khánh </a:t>
            </a:r>
            <a:r>
              <a:rPr lang="vi-VN" sz="2000" b="1" dirty="0" smtClean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Huyền</a:t>
            </a:r>
            <a:endParaRPr lang="en-US" sz="2000" b="1" dirty="0" smtClean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50000"/>
              </a:lnSpc>
            </a:pPr>
            <a:r>
              <a:rPr lang="en-US" sz="2000" b="1" dirty="0" err="1" smtClean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Nguyễn</a:t>
            </a:r>
            <a:r>
              <a:rPr lang="en-US" sz="2000" b="1" dirty="0" smtClean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dirty="0" err="1" smtClean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Hữu</a:t>
            </a:r>
            <a:r>
              <a:rPr lang="en-US" sz="2000" b="1" dirty="0" smtClean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b="1" dirty="0" err="1" smtClean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Quang</a:t>
            </a:r>
            <a:endParaRPr lang="vi-VN"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vi-VN" sz="20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g11bb26f517d_0_1"/>
          <p:cNvSpPr txBox="1">
            <a:spLocks noGrp="1"/>
          </p:cNvSpPr>
          <p:nvPr>
            <p:ph type="subTitle" idx="1"/>
          </p:nvPr>
        </p:nvSpPr>
        <p:spPr>
          <a:xfrm>
            <a:off x="6713200" y="2717225"/>
            <a:ext cx="30819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rPr lang="en-US" sz="18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MENTOR:</a:t>
            </a:r>
            <a:endParaRPr sz="1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endParaRPr sz="18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endParaRPr sz="1800" b="1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g11bb26f517d_0_1"/>
          <p:cNvSpPr txBox="1"/>
          <p:nvPr/>
        </p:nvSpPr>
        <p:spPr>
          <a:xfrm>
            <a:off x="6874500" y="2871026"/>
            <a:ext cx="4263300" cy="18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Phạm Xuân Bình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Mai Xuân Chinh</a:t>
            </a:r>
            <a:endParaRPr sz="24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/>
      <p:bldP spid="157" grpId="0" build="p"/>
      <p:bldP spid="158" grpId="0" build="p"/>
      <p:bldP spid="159" grpId="0"/>
      <p:bldP spid="160" grpId="0" build="p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"/>
          <p:cNvSpPr txBox="1">
            <a:spLocks noGrp="1"/>
          </p:cNvSpPr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1. GIỚI THIỆU DỰ ÁN</a:t>
            </a:r>
            <a:endParaRPr dirty="0"/>
          </a:p>
        </p:txBody>
      </p:sp>
      <p:sp>
        <p:nvSpPr>
          <p:cNvPr id="174" name="Google Shape;174;p1"/>
          <p:cNvSpPr txBox="1"/>
          <p:nvPr/>
        </p:nvSpPr>
        <p:spPr>
          <a:xfrm>
            <a:off x="1088571" y="1262164"/>
            <a:ext cx="10395858" cy="5162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vi-VN" sz="2000" b="1" dirty="0">
                <a:highlight>
                  <a:srgbClr val="FFFFFF"/>
                </a:highlight>
                <a:latin typeface="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highlight>
                  <a:srgbClr val="FFFFFF"/>
                </a:highlight>
                <a:latin typeface=""/>
              </a:rPr>
              <a:t>Xây dựng ứng dụng </a:t>
            </a:r>
            <a:r>
              <a:rPr lang="vi-VN" sz="2000" b="1" dirty="0">
                <a:highlight>
                  <a:srgbClr val="FFFFFF"/>
                </a:highlight>
                <a:latin typeface=""/>
              </a:rPr>
              <a:t>Java Console</a:t>
            </a:r>
            <a:endParaRPr lang="vi-VN" sz="2000" dirty="0">
              <a:highlight>
                <a:srgbClr val="FFFFFF"/>
              </a:highlight>
              <a:latin typeface="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highlight>
                  <a:srgbClr val="FFFFFF"/>
                </a:highlight>
                <a:latin typeface=""/>
              </a:rPr>
              <a:t>Chạy theo </a:t>
            </a:r>
            <a:r>
              <a:rPr lang="vi-VN" sz="2000" b="1" dirty="0">
                <a:highlight>
                  <a:srgbClr val="FFFFFF"/>
                </a:highlight>
                <a:latin typeface=""/>
              </a:rPr>
              <a:t>Menu tương tác</a:t>
            </a:r>
            <a:endParaRPr lang="vi-VN" sz="2000" dirty="0">
              <a:highlight>
                <a:srgbClr val="FFFFFF"/>
              </a:highlight>
              <a:latin typeface="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highlight>
                  <a:srgbClr val="FFFFFF"/>
                </a:highlight>
                <a:latin typeface=""/>
              </a:rPr>
              <a:t>Mỗi chức năng là một bài toán thuật toán</a:t>
            </a:r>
          </a:p>
          <a:p>
            <a:pPr>
              <a:lnSpc>
                <a:spcPct val="150000"/>
              </a:lnSpc>
            </a:pPr>
            <a:r>
              <a:rPr lang="vi-VN" sz="2000" b="1" dirty="0" smtClean="0">
                <a:highlight>
                  <a:srgbClr val="FFFFFF"/>
                </a:highlight>
                <a:latin typeface=""/>
              </a:rPr>
              <a:t>Mục </a:t>
            </a:r>
            <a:r>
              <a:rPr lang="vi-VN" sz="2000" b="1" dirty="0">
                <a:highlight>
                  <a:srgbClr val="FFFFFF"/>
                </a:highlight>
                <a:latin typeface=""/>
              </a:rPr>
              <a:t>tiêu</a:t>
            </a:r>
            <a:endParaRPr lang="vi-VN" sz="2000" dirty="0">
              <a:highlight>
                <a:srgbClr val="FFFFFF"/>
              </a:highlight>
              <a:latin typeface="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highlight>
                  <a:srgbClr val="FFFFFF"/>
                </a:highlight>
                <a:latin typeface=""/>
              </a:rPr>
              <a:t>Không học thuộc code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highlight>
                  <a:srgbClr val="FFFFFF"/>
                </a:highlight>
                <a:latin typeface=""/>
              </a:rPr>
              <a:t>Hiểu </a:t>
            </a:r>
            <a:r>
              <a:rPr lang="vi-VN" sz="2000" b="1" dirty="0">
                <a:highlight>
                  <a:srgbClr val="FFFFFF"/>
                </a:highlight>
                <a:latin typeface=""/>
              </a:rPr>
              <a:t>tư duy giải bài</a:t>
            </a:r>
            <a:endParaRPr lang="vi-VN" sz="2000" dirty="0">
              <a:highlight>
                <a:srgbClr val="FFFFFF"/>
              </a:highlight>
              <a:latin typeface="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highlight>
                  <a:srgbClr val="FFFFFF"/>
                </a:highlight>
                <a:latin typeface=""/>
              </a:rPr>
              <a:t>Biết </a:t>
            </a:r>
            <a:r>
              <a:rPr lang="vi-VN" sz="2000" b="1" dirty="0">
                <a:highlight>
                  <a:srgbClr val="FFFFFF"/>
                </a:highlight>
                <a:latin typeface=""/>
              </a:rPr>
              <a:t>chọn giải pháp code phù hợp</a:t>
            </a:r>
            <a:endParaRPr lang="vi-VN" sz="2000" dirty="0">
              <a:highlight>
                <a:srgbClr val="FFFFFF"/>
              </a:highlight>
              <a:latin typeface="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  <p:bldP spid="1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cca9f35dc4_0_6"/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2. ĐỐI TƯỢNG &amp; PHẠM VI</a:t>
            </a:r>
            <a:endParaRPr dirty="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FC15819A-0998-2D82-A987-247A3C18B141}"/>
              </a:ext>
            </a:extLst>
          </p:cNvPr>
          <p:cNvSpPr/>
          <p:nvPr/>
        </p:nvSpPr>
        <p:spPr>
          <a:xfrm>
            <a:off x="530886" y="1546338"/>
            <a:ext cx="5440680" cy="206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F7A74-DF9B-F236-D330-DF63708A172C}"/>
              </a:ext>
            </a:extLst>
          </p:cNvPr>
          <p:cNvSpPr txBox="1"/>
          <p:nvPr/>
        </p:nvSpPr>
        <p:spPr>
          <a:xfrm>
            <a:off x="2395488" y="1674935"/>
            <a:ext cx="3494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11827"/>
                </a:solidFill>
                <a:latin typeface=""/>
              </a:rPr>
              <a:t>Đối</a:t>
            </a:r>
            <a:r>
              <a:rPr lang="en-US" sz="2000" b="1" dirty="0">
                <a:solidFill>
                  <a:srgbClr val="111827"/>
                </a:solidFill>
                <a:latin typeface=""/>
              </a:rPr>
              <a:t> </a:t>
            </a:r>
            <a:r>
              <a:rPr lang="en-US" sz="2000" b="1" dirty="0" err="1">
                <a:solidFill>
                  <a:srgbClr val="111827"/>
                </a:solidFill>
                <a:latin typeface=""/>
              </a:rPr>
              <a:t>tượng</a:t>
            </a:r>
            <a:endParaRPr lang="en-US" sz="2000" dirty="0">
              <a:latin typeface="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A7CE3-FBC6-A96C-1662-77C28C2BDC0C}"/>
              </a:ext>
            </a:extLst>
          </p:cNvPr>
          <p:cNvSpPr txBox="1"/>
          <p:nvPr/>
        </p:nvSpPr>
        <p:spPr>
          <a:xfrm>
            <a:off x="705155" y="2187838"/>
            <a:ext cx="5390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Sinh viên học Java cơ bản.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Nắm được biến, if–else, vòng lặp, mảng, chuỗi.</a:t>
            </a: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83714BB6-714C-69FF-4F2E-9DF5C68D7024}"/>
              </a:ext>
            </a:extLst>
          </p:cNvPr>
          <p:cNvSpPr/>
          <p:nvPr/>
        </p:nvSpPr>
        <p:spPr>
          <a:xfrm>
            <a:off x="6096000" y="1546338"/>
            <a:ext cx="5322243" cy="206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C88B9C-137E-3A6F-4B9B-A0634BA8D3CE}"/>
              </a:ext>
            </a:extLst>
          </p:cNvPr>
          <p:cNvSpPr txBox="1"/>
          <p:nvPr/>
        </p:nvSpPr>
        <p:spPr>
          <a:xfrm>
            <a:off x="8109857" y="1659339"/>
            <a:ext cx="4082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11827"/>
                </a:solidFill>
                <a:latin typeface=""/>
              </a:rPr>
              <a:t>Phạm vi</a:t>
            </a:r>
            <a:endParaRPr lang="en-US" sz="2000" dirty="0">
              <a:latin typeface=""/>
            </a:endParaRPr>
          </a:p>
          <a:p>
            <a:endParaRPr lang="en-V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798F68-4ABC-BD7D-A42D-27C0792FF944}"/>
              </a:ext>
            </a:extLst>
          </p:cNvPr>
          <p:cNvSpPr txBox="1"/>
          <p:nvPr/>
        </p:nvSpPr>
        <p:spPr>
          <a:xfrm>
            <a:off x="6384035" y="2187838"/>
            <a:ext cx="4746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Java thuần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600" dirty="0"/>
              <a:t>Không dùng thư viện nâng cao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/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3.CÔNG CỤ &amp; MÔI TRƯỜNG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C3326-B1F3-3B12-FA46-593305E04334}"/>
              </a:ext>
            </a:extLst>
          </p:cNvPr>
          <p:cNvSpPr txBox="1"/>
          <p:nvPr/>
        </p:nvSpPr>
        <p:spPr>
          <a:xfrm>
            <a:off x="1284162" y="1187775"/>
            <a:ext cx="9002837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 b="1" dirty="0">
                <a:latin typeface=""/>
              </a:rPr>
              <a:t>Công cụ sử dụng: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b="1" dirty="0">
                <a:latin typeface=""/>
              </a:rPr>
              <a:t>IntelliJ IDEA Community</a:t>
            </a:r>
            <a:endParaRPr lang="vi-VN" sz="2000" dirty="0">
              <a:latin typeface="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"/>
              </a:rPr>
              <a:t>Java JDK 8+</a:t>
            </a:r>
          </a:p>
          <a:p>
            <a:pPr>
              <a:lnSpc>
                <a:spcPct val="150000"/>
              </a:lnSpc>
            </a:pPr>
            <a:r>
              <a:rPr lang="vi-VN" sz="2000" b="1" dirty="0">
                <a:latin typeface=""/>
              </a:rPr>
              <a:t>Vai trò của IntelliJ: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"/>
              </a:rPr>
              <a:t>Gợi ý cấu trúc code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"/>
              </a:rPr>
              <a:t>Phát hiện lỗi sớm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"/>
              </a:rPr>
              <a:t>Quản lý project rõ ràng</a:t>
            </a:r>
            <a:br>
              <a:rPr lang="vi-VN" sz="2000" dirty="0">
                <a:latin typeface=""/>
              </a:rPr>
            </a:br>
            <a:r>
              <a:rPr lang="vi-VN" sz="2000" dirty="0">
                <a:latin typeface=""/>
              </a:rPr>
              <a:t>=&gt;</a:t>
            </a:r>
            <a:r>
              <a:rPr lang="en-VN" sz="2000" dirty="0">
                <a:latin typeface=""/>
              </a:rPr>
              <a:t> </a:t>
            </a:r>
            <a:r>
              <a:rPr lang="vi-VN" sz="2000" dirty="0">
                <a:latin typeface=""/>
              </a:rPr>
              <a:t>Giúp tập trung vào </a:t>
            </a:r>
            <a:r>
              <a:rPr lang="vi-VN" sz="2000" b="1" dirty="0">
                <a:latin typeface=""/>
              </a:rPr>
              <a:t>tư duy</a:t>
            </a:r>
            <a:r>
              <a:rPr lang="vi-VN" sz="2000" dirty="0">
                <a:latin typeface=""/>
              </a:rPr>
              <a:t>, không lỗi vặt</a:t>
            </a:r>
          </a:p>
        </p:txBody>
      </p:sp>
      <p:pic>
        <p:nvPicPr>
          <p:cNvPr id="1026" name="Picture 2" descr="Install IntelliJ IDEA on Linux | Snap Sto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9780" y="1975497"/>
            <a:ext cx="1210089" cy="1210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JDK Download: Hướng dẫn tải, cài đặt, và thông tin liên qua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Hướng dẫn cách cài đặt Java SE Development Kit chi tiế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9684" y="1828476"/>
            <a:ext cx="2806411" cy="1578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AE5A16D9-7689-48A9-BD7B-DC11E0BEE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A41A9BD5-987A-3647-7B2F-8FEF25D0CE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4.TỔNG QUAN HỆ THỐNG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5E444C-B97B-E0C2-FB8B-18FBB943A8A9}"/>
              </a:ext>
            </a:extLst>
          </p:cNvPr>
          <p:cNvSpPr txBox="1"/>
          <p:nvPr/>
        </p:nvSpPr>
        <p:spPr>
          <a:xfrm>
            <a:off x="1364842" y="1193492"/>
            <a:ext cx="8258128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>
                <a:latin typeface=""/>
              </a:rPr>
              <a:t>Chương trình chạy trong Console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>
                <a:latin typeface=""/>
              </a:rPr>
              <a:t>Điều khiển bằng Menu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>
                <a:latin typeface=""/>
              </a:rPr>
              <a:t>Luồng hoạt động:</a:t>
            </a:r>
          </a:p>
          <a:p>
            <a:pPr marL="457200" lvl="1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>
                <a:latin typeface=""/>
              </a:rPr>
              <a:t>Chọn chức năng</a:t>
            </a:r>
          </a:p>
          <a:p>
            <a:pPr marL="457200" lvl="1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>
                <a:latin typeface=""/>
              </a:rPr>
              <a:t>Nhập dữ liệu</a:t>
            </a:r>
          </a:p>
          <a:p>
            <a:pPr marL="457200" lvl="1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>
                <a:latin typeface=""/>
              </a:rPr>
              <a:t>Xem kết quả</a:t>
            </a:r>
          </a:p>
          <a:p>
            <a:pPr marL="457200" lvl="1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400" dirty="0">
                <a:latin typeface=""/>
              </a:rPr>
              <a:t>Quay lại Menu</a:t>
            </a:r>
          </a:p>
        </p:txBody>
      </p:sp>
    </p:spTree>
    <p:extLst>
      <p:ext uri="{BB962C8B-B14F-4D97-AF65-F5344CB8AC3E}">
        <p14:creationId xmlns:p14="http://schemas.microsoft.com/office/powerpoint/2010/main" val="253749122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872CF972-0E89-3870-6B4A-27C258CD0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cca9f35dc4_0_6">
            <a:extLst>
              <a:ext uri="{FF2B5EF4-FFF2-40B4-BE49-F238E27FC236}">
                <a16:creationId xmlns:a16="http://schemas.microsoft.com/office/drawing/2014/main" id="{1B64D140-9954-5733-50FB-20EEDE46F6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/>
              <a:t>5.CẤU TRÚC CỦA CHƯƠNG TRÌNH</a:t>
            </a:r>
            <a:endParaRPr dirty="0"/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DE7E5459-78B0-C599-00ED-437CBD38D7A7}"/>
              </a:ext>
            </a:extLst>
          </p:cNvPr>
          <p:cNvSpPr/>
          <p:nvPr/>
        </p:nvSpPr>
        <p:spPr>
          <a:xfrm>
            <a:off x="530886" y="1546338"/>
            <a:ext cx="5440680" cy="206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V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2BBBD-C045-EC90-D502-124402FE8E89}"/>
              </a:ext>
            </a:extLst>
          </p:cNvPr>
          <p:cNvSpPr txBox="1"/>
          <p:nvPr/>
        </p:nvSpPr>
        <p:spPr>
          <a:xfrm>
            <a:off x="2395488" y="1674935"/>
            <a:ext cx="34943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"/>
                <a:cs typeface="Calibri" pitchFamily="34" charset="-120"/>
              </a:rPr>
              <a:t>Tổ</a:t>
            </a:r>
            <a:r>
              <a:rPr lang="en-US" sz="2000" b="1" dirty="0">
                <a:latin typeface=""/>
                <a:cs typeface="Calibri" pitchFamily="34" charset="-120"/>
              </a:rPr>
              <a:t> </a:t>
            </a:r>
            <a:r>
              <a:rPr lang="en-US" sz="2000" b="1" dirty="0" err="1">
                <a:latin typeface=""/>
                <a:cs typeface="Calibri" pitchFamily="34" charset="-120"/>
              </a:rPr>
              <a:t>chức</a:t>
            </a:r>
            <a:r>
              <a:rPr lang="en-US" sz="2000" b="1" dirty="0">
                <a:latin typeface=""/>
                <a:cs typeface="Calibri" pitchFamily="34" charset="-120"/>
              </a:rPr>
              <a:t> Code</a:t>
            </a:r>
            <a:endParaRPr lang="en-US" sz="2000" dirty="0">
              <a:latin typeface=""/>
            </a:endParaRPr>
          </a:p>
          <a:p>
            <a:pPr marL="0" indent="0">
              <a:buNone/>
            </a:pPr>
            <a:endParaRPr lang="en-US" sz="2000" dirty="0">
              <a:latin typeface="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73F3E-6773-BE99-3587-FC03A9DD4C93}"/>
              </a:ext>
            </a:extLst>
          </p:cNvPr>
          <p:cNvSpPr txBox="1"/>
          <p:nvPr/>
        </p:nvSpPr>
        <p:spPr>
          <a:xfrm>
            <a:off x="705155" y="2187838"/>
            <a:ext cx="5390844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"/>
              </a:rPr>
              <a:t>1 Project Java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"/>
              </a:rPr>
              <a:t>1 Package </a:t>
            </a:r>
            <a:r>
              <a:rPr lang="en-US" sz="1800" dirty="0" err="1">
                <a:latin typeface=""/>
              </a:rPr>
              <a:t>chính</a:t>
            </a:r>
            <a:endParaRPr lang="en-US" sz="1800" dirty="0">
              <a:latin typeface="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"/>
              </a:rPr>
              <a:t>1 file </a:t>
            </a:r>
            <a:r>
              <a:rPr lang="en-US" sz="1800" dirty="0" err="1">
                <a:latin typeface=""/>
              </a:rPr>
              <a:t>Main.java</a:t>
            </a:r>
            <a:endParaRPr lang="en-US" sz="1800" dirty="0">
              <a:latin typeface=""/>
            </a:endParaRP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D8DDA8BE-7CC1-F3F4-CFCA-62DE6F2BFC34}"/>
              </a:ext>
            </a:extLst>
          </p:cNvPr>
          <p:cNvSpPr/>
          <p:nvPr/>
        </p:nvSpPr>
        <p:spPr>
          <a:xfrm>
            <a:off x="6096000" y="1546338"/>
            <a:ext cx="5322243" cy="206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AE3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74A9DE-E941-E025-1E0F-2837239860FB}"/>
              </a:ext>
            </a:extLst>
          </p:cNvPr>
          <p:cNvSpPr txBox="1"/>
          <p:nvPr/>
        </p:nvSpPr>
        <p:spPr>
          <a:xfrm>
            <a:off x="8109857" y="1659339"/>
            <a:ext cx="4082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000" b="1" dirty="0">
                <a:latin typeface=""/>
              </a:rPr>
              <a:t>Nguyên </a:t>
            </a:r>
            <a:r>
              <a:rPr lang="en-US" sz="2000" b="1" dirty="0" err="1">
                <a:latin typeface=""/>
              </a:rPr>
              <a:t>tắc</a:t>
            </a:r>
            <a:r>
              <a:rPr lang="en-US" sz="2000" b="1" dirty="0">
                <a:latin typeface=""/>
              </a:rPr>
              <a:t> </a:t>
            </a:r>
            <a:r>
              <a:rPr lang="en-US" sz="2000" b="1" dirty="0" err="1">
                <a:latin typeface=""/>
              </a:rPr>
              <a:t>thiết</a:t>
            </a:r>
            <a:r>
              <a:rPr lang="en-US" sz="2000" b="1" dirty="0">
                <a:latin typeface=""/>
              </a:rPr>
              <a:t> </a:t>
            </a:r>
            <a:r>
              <a:rPr lang="en-US" sz="2000" b="1" dirty="0" err="1">
                <a:latin typeface=""/>
              </a:rPr>
              <a:t>kế</a:t>
            </a:r>
            <a:endParaRPr lang="en-US" sz="2000" b="1" dirty="0">
              <a:latin typeface=""/>
            </a:endParaRPr>
          </a:p>
          <a:p>
            <a:endParaRPr lang="en-V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2A53DF-7CDF-E7E0-59E7-433848D44A6C}"/>
              </a:ext>
            </a:extLst>
          </p:cNvPr>
          <p:cNvSpPr txBox="1"/>
          <p:nvPr/>
        </p:nvSpPr>
        <p:spPr>
          <a:xfrm>
            <a:off x="6384035" y="2187838"/>
            <a:ext cx="4746172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main() chỉ điều phối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Mỗi bài toán = </a:t>
            </a:r>
            <a:r>
              <a:rPr lang="vi-VN" sz="1600" b="1" dirty="0">
                <a:latin typeface=""/>
              </a:rPr>
              <a:t>1 phương thức riêng</a:t>
            </a:r>
            <a:endParaRPr lang="vi-VN" sz="1600" dirty="0">
              <a:latin typeface="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VN" sz="1600" dirty="0">
                <a:latin typeface=""/>
              </a:rPr>
              <a:t>=&gt; </a:t>
            </a:r>
            <a:r>
              <a:rPr lang="vi-VN" sz="1600" dirty="0">
                <a:latin typeface=""/>
              </a:rPr>
              <a:t>Dễ đọc – dễ debug – dễ mở rộng</a:t>
            </a:r>
          </a:p>
        </p:txBody>
      </p:sp>
    </p:spTree>
    <p:extLst>
      <p:ext uri="{BB962C8B-B14F-4D97-AF65-F5344CB8AC3E}">
        <p14:creationId xmlns:p14="http://schemas.microsoft.com/office/powerpoint/2010/main" val="262039881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9B8F917E-2D0D-8A4D-0FC5-3D22BD2EA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E7C42088-E7C3-6C2A-84D4-F05666BA9D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6. MENU CHỨC NĂNG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21234-DA8B-2F57-02F5-16583EB33062}"/>
              </a:ext>
            </a:extLst>
          </p:cNvPr>
          <p:cNvSpPr txBox="1"/>
          <p:nvPr/>
        </p:nvSpPr>
        <p:spPr>
          <a:xfrm>
            <a:off x="1001485" y="1176672"/>
            <a:ext cx="10189029" cy="465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 b="1" dirty="0">
                <a:latin typeface=""/>
              </a:rPr>
              <a:t>Các chức năng trong chương trình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000" dirty="0">
                <a:latin typeface=""/>
              </a:rPr>
              <a:t>Two Sum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000" dirty="0">
                <a:latin typeface=""/>
              </a:rPr>
              <a:t>Move Zeroes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000" dirty="0">
                <a:latin typeface=""/>
              </a:rPr>
              <a:t>Valid Palindrome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000" dirty="0">
                <a:latin typeface=""/>
              </a:rPr>
              <a:t>Reverse Wordsa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vi-VN" sz="2000" dirty="0">
                <a:latin typeface=""/>
              </a:rPr>
              <a:t>Happy Number</a:t>
            </a:r>
          </a:p>
          <a:p>
            <a:pPr>
              <a:lnSpc>
                <a:spcPct val="150000"/>
              </a:lnSpc>
            </a:pPr>
            <a:r>
              <a:rPr lang="vi-VN" sz="2000" b="1" dirty="0">
                <a:latin typeface=""/>
              </a:rPr>
              <a:t>Áp dụng: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"/>
              </a:rPr>
              <a:t>do–while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"/>
              </a:rPr>
              <a:t>switch–case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000" dirty="0">
                <a:latin typeface=""/>
              </a:rPr>
              <a:t>Scanner</a:t>
            </a:r>
          </a:p>
        </p:txBody>
      </p:sp>
    </p:spTree>
    <p:extLst>
      <p:ext uri="{BB962C8B-B14F-4D97-AF65-F5344CB8AC3E}">
        <p14:creationId xmlns:p14="http://schemas.microsoft.com/office/powerpoint/2010/main" val="293839696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5A5ABD28-608D-52B7-EA48-3BC8076AC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64B663B4-97E6-BAA8-C7F0-4AAF016A67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/>
              <a:t>6. </a:t>
            </a:r>
            <a:r>
              <a:rPr lang="vi-VN" dirty="0"/>
              <a:t>TWO SUM(FR1)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08C5DA-F953-4C7C-D64D-EDDF4758185C}"/>
              </a:ext>
            </a:extLst>
          </p:cNvPr>
          <p:cNvSpPr txBox="1"/>
          <p:nvPr/>
        </p:nvSpPr>
        <p:spPr>
          <a:xfrm>
            <a:off x="1295399" y="1257816"/>
            <a:ext cx="48985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000" b="1" dirty="0"/>
              <a:t>TÌM CẶP SỐ CÓ TỔNG BẰNG K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00F57-B53B-7995-BEEF-2810267D30CD}"/>
              </a:ext>
            </a:extLst>
          </p:cNvPr>
          <p:cNvSpPr txBox="1"/>
          <p:nvPr/>
        </p:nvSpPr>
        <p:spPr>
          <a:xfrm>
            <a:off x="1426028" y="1657926"/>
            <a:ext cx="618308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/>
              <a:t>Input</a:t>
            </a:r>
            <a:endParaRPr lang="vi-V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Mảng số nguyên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Số nguyên target</a:t>
            </a:r>
          </a:p>
          <a:p>
            <a:r>
              <a:rPr lang="vi-VN" sz="1800" b="1" dirty="0"/>
              <a:t>Tư duy &amp; Thuật toán</a:t>
            </a:r>
            <a:endParaRPr lang="vi-V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Cần tìm </a:t>
            </a:r>
            <a:r>
              <a:rPr lang="vi-VN" sz="1800" b="1" dirty="0"/>
              <a:t>2 phần tử khác nhau</a:t>
            </a:r>
            <a:endParaRPr lang="vi-V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Không yêu cầu tối ưu cao → ưu tiên </a:t>
            </a:r>
            <a:r>
              <a:rPr lang="vi-VN" sz="1800" b="1" dirty="0"/>
              <a:t>dễ hiểu</a:t>
            </a:r>
            <a:endParaRPr lang="vi-V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Dùng </a:t>
            </a:r>
            <a:r>
              <a:rPr lang="vi-VN" sz="1800" b="1" dirty="0"/>
              <a:t>2 vòng lặp</a:t>
            </a:r>
            <a:r>
              <a:rPr lang="vi-VN" sz="1800" dirty="0"/>
              <a:t> để kiểm tra từng cặp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Tránh trùng chỉ số</a:t>
            </a:r>
          </a:p>
          <a:p>
            <a:r>
              <a:rPr lang="vi-VN" sz="1800" b="1" dirty="0"/>
              <a:t>Giải pháp code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Vòng ngoài cố định số thứ nhất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Vòng trong tìm số còn lại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Nếu thỏa điều kiện → in kết quả và dừng</a:t>
            </a:r>
          </a:p>
          <a:p>
            <a:r>
              <a:rPr lang="vi-VN" sz="1800" b="1" dirty="0"/>
              <a:t>Output</a:t>
            </a:r>
            <a:endParaRPr lang="vi-V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Cặp chỉ số thỏa mãn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Hoặc thông báo không tồn tại</a:t>
            </a:r>
          </a:p>
          <a:p>
            <a:endParaRPr lang="en-VN" sz="1800" dirty="0"/>
          </a:p>
        </p:txBody>
      </p:sp>
      <p:pic>
        <p:nvPicPr>
          <p:cNvPr id="1026" name="Picture 2" descr="[LeetCode] Two Sum. Tổng Hai Số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908" y="1657926"/>
            <a:ext cx="4861983" cy="389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48187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F1249255-CF2F-5E00-81FC-4F8FCC50E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EED969CC-916C-37F0-D0BB-4105F8BCD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7. MOVE ZEROES(FR2)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CBB3F-97CD-E230-4FF3-E0E66CED2E87}"/>
              </a:ext>
            </a:extLst>
          </p:cNvPr>
          <p:cNvSpPr txBox="1"/>
          <p:nvPr/>
        </p:nvSpPr>
        <p:spPr>
          <a:xfrm>
            <a:off x="1534886" y="1327665"/>
            <a:ext cx="10189029" cy="5217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600" b="1" dirty="0">
                <a:latin typeface=""/>
              </a:rPr>
              <a:t>Input</a:t>
            </a:r>
            <a:endParaRPr lang="vi-VN" sz="1600" dirty="0">
              <a:latin typeface="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Mảng số nguyên có chứa số 0</a:t>
            </a:r>
          </a:p>
          <a:p>
            <a:pPr>
              <a:lnSpc>
                <a:spcPct val="150000"/>
              </a:lnSpc>
            </a:pPr>
            <a:r>
              <a:rPr lang="vi-VN" sz="1600" b="1" dirty="0">
                <a:latin typeface=""/>
              </a:rPr>
              <a:t>Tư duy &amp; Thuật toán</a:t>
            </a:r>
            <a:endParaRPr lang="vi-VN" sz="1600" dirty="0">
              <a:latin typeface="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Không dùng mảng phụ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Giữ nguyên thứ tự số khác 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Tách rõ </a:t>
            </a:r>
            <a:r>
              <a:rPr lang="vi-VN" sz="1600" b="1" dirty="0">
                <a:latin typeface=""/>
              </a:rPr>
              <a:t>đọc dữ liệu</a:t>
            </a:r>
            <a:r>
              <a:rPr lang="vi-VN" sz="1600" dirty="0">
                <a:latin typeface=""/>
              </a:rPr>
              <a:t> &amp; </a:t>
            </a:r>
            <a:r>
              <a:rPr lang="vi-VN" sz="1600" b="1" dirty="0">
                <a:latin typeface=""/>
              </a:rPr>
              <a:t>ghi dữ liệu</a:t>
            </a:r>
            <a:endParaRPr lang="vi-VN" sz="1600" dirty="0">
              <a:latin typeface="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Áp dụng </a:t>
            </a:r>
            <a:r>
              <a:rPr lang="vi-VN" sz="1600" b="1" dirty="0">
                <a:latin typeface=""/>
              </a:rPr>
              <a:t>Two Pointers</a:t>
            </a:r>
            <a:r>
              <a:rPr lang="vi-VN" sz="1600" dirty="0">
                <a:latin typeface=""/>
              </a:rPr>
              <a:t>:</a:t>
            </a:r>
          </a:p>
          <a:p>
            <a:pPr lvl="3">
              <a:lnSpc>
                <a:spcPct val="150000"/>
              </a:lnSpc>
            </a:pPr>
            <a:r>
              <a:rPr lang="vi-VN" sz="1600" dirty="0">
                <a:latin typeface=""/>
              </a:rPr>
              <a:t>	1 con trỏ duyệt</a:t>
            </a:r>
          </a:p>
          <a:p>
            <a:pPr lvl="3">
              <a:lnSpc>
                <a:spcPct val="150000"/>
              </a:lnSpc>
            </a:pPr>
            <a:r>
              <a:rPr lang="vi-VN" sz="1600" dirty="0">
                <a:latin typeface=""/>
              </a:rPr>
              <a:t>	1 con trỏ ghi</a:t>
            </a:r>
          </a:p>
          <a:p>
            <a:pPr>
              <a:lnSpc>
                <a:spcPct val="150000"/>
              </a:lnSpc>
            </a:pPr>
            <a:r>
              <a:rPr lang="vi-VN" sz="1600" b="1" dirty="0">
                <a:latin typeface=""/>
              </a:rPr>
              <a:t>Giải pháp code </a:t>
            </a:r>
            <a:endParaRPr lang="vi-VN" sz="1600" dirty="0">
              <a:latin typeface="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Duyệt mảng, ghi số khác 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Phần còn lại gán 0</a:t>
            </a:r>
          </a:p>
          <a:p>
            <a:pPr>
              <a:lnSpc>
                <a:spcPct val="150000"/>
              </a:lnSpc>
            </a:pPr>
            <a:r>
              <a:rPr lang="vi-VN" sz="1600" b="1" dirty="0">
                <a:latin typeface=""/>
              </a:rPr>
              <a:t>Output</a:t>
            </a:r>
            <a:endParaRPr lang="vi-VN" sz="1600" dirty="0">
              <a:latin typeface="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Mảng sau khi dồn số 0 về cuối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2BED71-A44F-61E4-D28D-D4C8880F326A}"/>
              </a:ext>
            </a:extLst>
          </p:cNvPr>
          <p:cNvSpPr txBox="1"/>
          <p:nvPr/>
        </p:nvSpPr>
        <p:spPr>
          <a:xfrm>
            <a:off x="1404257" y="1142999"/>
            <a:ext cx="5736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latin typeface=""/>
              </a:rPr>
              <a:t>Dồn</a:t>
            </a:r>
            <a:r>
              <a:rPr lang="en-US" sz="1800" b="1" dirty="0">
                <a:latin typeface=""/>
              </a:rPr>
              <a:t> </a:t>
            </a:r>
            <a:r>
              <a:rPr lang="en-US" sz="1800" b="1" dirty="0" err="1">
                <a:latin typeface=""/>
              </a:rPr>
              <a:t>số</a:t>
            </a:r>
            <a:r>
              <a:rPr lang="en-US" sz="1800" b="1" dirty="0">
                <a:latin typeface=""/>
              </a:rPr>
              <a:t> 0 </a:t>
            </a:r>
            <a:r>
              <a:rPr lang="en-US" sz="1800" b="1" dirty="0" err="1">
                <a:latin typeface=""/>
              </a:rPr>
              <a:t>về</a:t>
            </a:r>
            <a:r>
              <a:rPr lang="en-US" sz="1800" b="1" dirty="0">
                <a:latin typeface=""/>
              </a:rPr>
              <a:t> </a:t>
            </a:r>
            <a:r>
              <a:rPr lang="en-US" sz="1800" b="1" dirty="0" err="1">
                <a:latin typeface=""/>
              </a:rPr>
              <a:t>cuối</a:t>
            </a:r>
            <a:r>
              <a:rPr lang="en-US" sz="1800" b="1" dirty="0">
                <a:latin typeface=""/>
              </a:rPr>
              <a:t> </a:t>
            </a:r>
            <a:r>
              <a:rPr lang="en-US" sz="1800" b="1" dirty="0" err="1">
                <a:latin typeface=""/>
              </a:rPr>
              <a:t>mảng</a:t>
            </a:r>
            <a:endParaRPr lang="en-VN" sz="1800" b="1" dirty="0">
              <a:latin typeface=""/>
            </a:endParaRPr>
          </a:p>
        </p:txBody>
      </p:sp>
      <p:pic>
        <p:nvPicPr>
          <p:cNvPr id="2050" name="Picture 2" descr="Move Zeroes - Leetcode 283 - Pyth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909763"/>
            <a:ext cx="45720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98193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BA1131EC-9AC1-F41A-4C1D-594595DD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791539D0-0BD5-933F-5C19-F0DC3AD3DD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sz="2400" dirty="0"/>
              <a:t>8. VALID PALINDROME(FR3)</a:t>
            </a:r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477AC0-9F22-AFD3-E87A-4A951B8EDFE2}"/>
              </a:ext>
            </a:extLst>
          </p:cNvPr>
          <p:cNvSpPr txBox="1"/>
          <p:nvPr/>
        </p:nvSpPr>
        <p:spPr>
          <a:xfrm>
            <a:off x="1311595" y="1127792"/>
            <a:ext cx="10189029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 err="1">
                <a:latin typeface=""/>
              </a:rPr>
              <a:t>Kiểm</a:t>
            </a:r>
            <a:r>
              <a:rPr lang="en-US" sz="1600" b="1" dirty="0">
                <a:latin typeface=""/>
              </a:rPr>
              <a:t> </a:t>
            </a:r>
            <a:r>
              <a:rPr lang="en-US" sz="1600" b="1" dirty="0" err="1">
                <a:latin typeface=""/>
              </a:rPr>
              <a:t>tra</a:t>
            </a:r>
            <a:r>
              <a:rPr lang="en-US" sz="1600" b="1" dirty="0">
                <a:latin typeface=""/>
              </a:rPr>
              <a:t> </a:t>
            </a:r>
            <a:r>
              <a:rPr lang="en-US" sz="1600" b="1" dirty="0" err="1">
                <a:latin typeface=""/>
              </a:rPr>
              <a:t>chuỗi</a:t>
            </a:r>
            <a:r>
              <a:rPr lang="en-US" sz="1600" b="1" dirty="0">
                <a:latin typeface=""/>
              </a:rPr>
              <a:t> </a:t>
            </a:r>
            <a:r>
              <a:rPr lang="en-US" sz="1600" b="1" dirty="0" err="1">
                <a:latin typeface=""/>
              </a:rPr>
              <a:t>đối</a:t>
            </a:r>
            <a:r>
              <a:rPr lang="en-US" sz="1600" b="1" dirty="0">
                <a:latin typeface=""/>
              </a:rPr>
              <a:t> </a:t>
            </a:r>
            <a:r>
              <a:rPr lang="en-US" sz="1600" b="1" dirty="0" err="1">
                <a:latin typeface=""/>
              </a:rPr>
              <a:t>xứng</a:t>
            </a:r>
            <a:endParaRPr lang="vi-VN" sz="1600" b="1" dirty="0">
              <a:latin typeface="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65106-3286-8C8E-49D2-0DB090EBD138}"/>
              </a:ext>
            </a:extLst>
          </p:cNvPr>
          <p:cNvSpPr txBox="1"/>
          <p:nvPr/>
        </p:nvSpPr>
        <p:spPr>
          <a:xfrm>
            <a:off x="1442224" y="1454750"/>
            <a:ext cx="9049214" cy="4847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600" b="1" dirty="0">
                <a:latin typeface=""/>
              </a:rPr>
              <a:t>Input</a:t>
            </a:r>
            <a:endParaRPr lang="vi-VN" sz="1600" dirty="0">
              <a:latin typeface="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Chuỗi bất kỳ (chữ hoa, dấu, khoảng trắng)</a:t>
            </a:r>
          </a:p>
          <a:p>
            <a:pPr>
              <a:lnSpc>
                <a:spcPct val="150000"/>
              </a:lnSpc>
            </a:pPr>
            <a:r>
              <a:rPr lang="vi-VN" sz="1600" b="1" dirty="0">
                <a:latin typeface=""/>
              </a:rPr>
              <a:t>Tư duy &amp; Thuật toán</a:t>
            </a:r>
            <a:endParaRPr lang="vi-VN" sz="1600" dirty="0">
              <a:latin typeface="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Chuỗi đầu vào </a:t>
            </a:r>
            <a:r>
              <a:rPr lang="vi-VN" sz="1600" b="1" dirty="0">
                <a:latin typeface=""/>
              </a:rPr>
              <a:t>không sạch</a:t>
            </a:r>
            <a:r>
              <a:rPr lang="vi-VN" sz="1600" dirty="0">
                <a:latin typeface=""/>
              </a:rPr>
              <a:t>, cần chuẩn hóa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Dùng:</a:t>
            </a:r>
          </a:p>
          <a:p>
            <a:pPr lvl="1">
              <a:lnSpc>
                <a:spcPct val="150000"/>
              </a:lnSpc>
            </a:pPr>
            <a:r>
              <a:rPr lang="vi-VN" sz="1600" dirty="0">
                <a:latin typeface=""/>
              </a:rPr>
              <a:t>	Regex lọc ký tự đặc biệt</a:t>
            </a:r>
          </a:p>
          <a:p>
            <a:pPr lvl="1">
              <a:lnSpc>
                <a:spcPct val="150000"/>
              </a:lnSpc>
            </a:pPr>
            <a:r>
              <a:rPr lang="vi-VN" sz="1600" dirty="0">
                <a:latin typeface=""/>
              </a:rPr>
              <a:t>	Chuyển về chữ thường</a:t>
            </a:r>
          </a:p>
          <a:p>
            <a:pPr lvl="1">
              <a:lnSpc>
                <a:spcPct val="150000"/>
              </a:lnSpc>
            </a:pPr>
            <a:r>
              <a:rPr lang="vi-VN" sz="1600" dirty="0">
                <a:latin typeface=""/>
              </a:rPr>
              <a:t>	Two Pointers so sánh hai đầu</a:t>
            </a:r>
          </a:p>
          <a:p>
            <a:pPr>
              <a:lnSpc>
                <a:spcPct val="150000"/>
              </a:lnSpc>
            </a:pPr>
            <a:r>
              <a:rPr lang="vi-VN" sz="1600" b="1" dirty="0">
                <a:latin typeface=""/>
              </a:rPr>
              <a:t>Giải pháp code </a:t>
            </a:r>
            <a:endParaRPr lang="vi-VN" sz="1600" dirty="0">
              <a:latin typeface="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Chuẩn hóa dữ liệu trước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So sánh ký tự từ hai đầu đến giữa</a:t>
            </a:r>
          </a:p>
          <a:p>
            <a:pPr>
              <a:lnSpc>
                <a:spcPct val="150000"/>
              </a:lnSpc>
            </a:pPr>
            <a:r>
              <a:rPr lang="vi-VN" sz="1600" b="1" dirty="0">
                <a:latin typeface=""/>
              </a:rPr>
              <a:t>Output</a:t>
            </a:r>
            <a:endParaRPr lang="vi-VN" sz="1600" dirty="0">
              <a:latin typeface="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>
                <a:latin typeface=""/>
              </a:rPr>
              <a:t>True / False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531" y="2000245"/>
            <a:ext cx="5237068" cy="319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0385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8A845D16-BBD6-A275-4DC6-76471F88B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B321C7F5-66E9-0780-A862-D434A52CEF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9. REVERSE WORDS (FR4)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EC398D-9EC1-C190-0F4A-0A4E4083990C}"/>
              </a:ext>
            </a:extLst>
          </p:cNvPr>
          <p:cNvSpPr txBox="1"/>
          <p:nvPr/>
        </p:nvSpPr>
        <p:spPr>
          <a:xfrm>
            <a:off x="1360714" y="1160836"/>
            <a:ext cx="10189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/>
              <a:t>Đảo ngược từ trong câu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2FEC5-61B4-05DD-34C8-8E09F45DD75F}"/>
              </a:ext>
            </a:extLst>
          </p:cNvPr>
          <p:cNvSpPr txBox="1"/>
          <p:nvPr/>
        </p:nvSpPr>
        <p:spPr>
          <a:xfrm>
            <a:off x="1567542" y="1454750"/>
            <a:ext cx="6487886" cy="5217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1600" b="1" dirty="0"/>
              <a:t>Input</a:t>
            </a:r>
            <a:endParaRPr lang="vi-VN" sz="1600" dirty="0"/>
          </a:p>
          <a:p>
            <a:pPr>
              <a:lnSpc>
                <a:spcPct val="150000"/>
              </a:lnSpc>
            </a:pPr>
            <a:r>
              <a:rPr lang="vi-VN" sz="1600" dirty="0"/>
              <a:t>Chuỗi có nhiều khoảng trắng dư</a:t>
            </a:r>
          </a:p>
          <a:p>
            <a:pPr>
              <a:lnSpc>
                <a:spcPct val="150000"/>
              </a:lnSpc>
            </a:pPr>
            <a:r>
              <a:rPr lang="vi-VN" sz="1600" b="1" dirty="0"/>
              <a:t>Tư duy &amp; Thuật toán</a:t>
            </a:r>
            <a:endParaRPr lang="vi-V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/>
              <a:t>Không đảo ký tự, mà đảo </a:t>
            </a:r>
            <a:r>
              <a:rPr lang="vi-VN" sz="1600" b="1" dirty="0"/>
              <a:t>từ</a:t>
            </a:r>
            <a:endParaRPr lang="vi-VN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/>
              <a:t>Chuẩn hóa khoảng trắng trước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/>
              <a:t>Tách từ → đảo thứ tự → ghép lại</a:t>
            </a:r>
          </a:p>
          <a:p>
            <a:pPr>
              <a:lnSpc>
                <a:spcPct val="150000"/>
              </a:lnSpc>
            </a:pPr>
            <a:r>
              <a:rPr lang="vi-VN" sz="1600" b="1" dirty="0"/>
              <a:t>Giải pháp code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/>
              <a:t>Loại khoảng trắng thừa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/>
              <a:t>Tách chuỗi thành mảng từ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/>
              <a:t>Đảo thứ tự từ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600" dirty="0"/>
              <a:t>Ghép lại bằng một khoảng trắng duy nhất</a:t>
            </a:r>
          </a:p>
          <a:p>
            <a:pPr>
              <a:lnSpc>
                <a:spcPct val="150000"/>
              </a:lnSpc>
            </a:pPr>
            <a:r>
              <a:rPr lang="vi-VN" sz="1600" b="1" dirty="0"/>
              <a:t>Output</a:t>
            </a:r>
            <a:endParaRPr lang="vi-VN" sz="1600" dirty="0"/>
          </a:p>
          <a:p>
            <a:pPr>
              <a:lnSpc>
                <a:spcPct val="150000"/>
              </a:lnSpc>
            </a:pPr>
            <a:r>
              <a:rPr lang="vi-VN" sz="1600" dirty="0"/>
              <a:t>Chuỗi đã đảo từ và chuẩn hóa</a:t>
            </a:r>
          </a:p>
          <a:p>
            <a:pPr>
              <a:lnSpc>
                <a:spcPct val="150000"/>
              </a:lnSpc>
            </a:pPr>
            <a:endParaRPr lang="en-VN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092" y="2417074"/>
            <a:ext cx="4350327" cy="211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3400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5C7C8CB5-3AC8-9E8C-A22E-0B915750B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5FC926D8-91C0-2434-3EE8-7E7438742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10. HAPPY NUMBER (FR5)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95580-5A1F-70FA-6A49-EADED7C280B6}"/>
              </a:ext>
            </a:extLst>
          </p:cNvPr>
          <p:cNvSpPr txBox="1"/>
          <p:nvPr/>
        </p:nvSpPr>
        <p:spPr>
          <a:xfrm>
            <a:off x="1393371" y="1140339"/>
            <a:ext cx="101890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US" sz="2000" b="1" dirty="0" err="1"/>
              <a:t>Số</a:t>
            </a:r>
            <a:r>
              <a:rPr lang="en-US" sz="2000" b="1" dirty="0"/>
              <a:t> </a:t>
            </a:r>
            <a:r>
              <a:rPr lang="en-US" sz="2000" b="1" dirty="0" err="1"/>
              <a:t>hạnh</a:t>
            </a:r>
            <a:r>
              <a:rPr lang="en-US" sz="2000" b="1" dirty="0"/>
              <a:t> </a:t>
            </a:r>
            <a:r>
              <a:rPr lang="en-US" sz="2000" b="1" dirty="0" err="1"/>
              <a:t>phúc</a:t>
            </a:r>
            <a:endParaRPr lang="vi-VN" sz="2000" b="1" dirty="0">
              <a:latin typeface="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6A6A5-DD29-0ED7-C73E-5B6CA75B106C}"/>
              </a:ext>
            </a:extLst>
          </p:cNvPr>
          <p:cNvSpPr txBox="1"/>
          <p:nvPr/>
        </p:nvSpPr>
        <p:spPr>
          <a:xfrm>
            <a:off x="1587619" y="1344930"/>
            <a:ext cx="10096102" cy="522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/>
              <a:t>Input</a:t>
            </a:r>
            <a:endParaRPr lang="vi-VN" dirty="0"/>
          </a:p>
          <a:p>
            <a:pPr>
              <a:lnSpc>
                <a:spcPct val="150000"/>
              </a:lnSpc>
            </a:pPr>
            <a:r>
              <a:rPr lang="vi-VN" dirty="0"/>
              <a:t>Số nguyên dương n</a:t>
            </a:r>
          </a:p>
          <a:p>
            <a:pPr>
              <a:lnSpc>
                <a:spcPct val="150000"/>
              </a:lnSpc>
            </a:pPr>
            <a:r>
              <a:rPr lang="vi-VN" b="1" dirty="0"/>
              <a:t>Tư duy &amp; Thuật toán</a:t>
            </a:r>
            <a:endParaRPr lang="vi-V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Bài toán lặp, không biết trước số lần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Nguy cơ </a:t>
            </a:r>
            <a:r>
              <a:rPr lang="vi-VN" b="1" dirty="0"/>
              <a:t>vòng lặp vô hạn</a:t>
            </a:r>
            <a:endParaRPr lang="vi-V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Mỗi vòng: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Tách chữ số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Bình phương và cộng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Điều kiện dừng: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Kết quả = 1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Hoặc lặp lại giá trị cũ</a:t>
            </a:r>
          </a:p>
          <a:p>
            <a:pPr>
              <a:lnSpc>
                <a:spcPct val="150000"/>
              </a:lnSpc>
            </a:pPr>
            <a:r>
              <a:rPr lang="vi-VN" b="1" dirty="0"/>
              <a:t>Giải pháp code </a:t>
            </a:r>
            <a:endParaRPr lang="vi-V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Dùng vòng lặp while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dirty="0"/>
              <a:t>Kiểm tra điều kiện dừng rõ ràng</a:t>
            </a:r>
          </a:p>
          <a:p>
            <a:pPr>
              <a:lnSpc>
                <a:spcPct val="150000"/>
              </a:lnSpc>
            </a:pPr>
            <a:r>
              <a:rPr lang="vi-VN" b="1" dirty="0"/>
              <a:t>Output</a:t>
            </a:r>
            <a:endParaRPr lang="vi-VN" dirty="0"/>
          </a:p>
          <a:p>
            <a:pPr>
              <a:lnSpc>
                <a:spcPct val="150000"/>
              </a:lnSpc>
            </a:pPr>
            <a:r>
              <a:rPr lang="vi-VN" dirty="0"/>
              <a:t>Kết luận n có phải số hạnh phúc hay không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926" y="2379838"/>
            <a:ext cx="4214613" cy="244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92422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183400EF-9F8F-1D63-7448-19A5D6321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BD204028-77CD-43C6-6A3C-8805DB3486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11.LUỒNG HOẠT ĐỘNG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8FF1C9-81E0-8B0F-ECA7-F1E873DA3BC5}"/>
              </a:ext>
            </a:extLst>
          </p:cNvPr>
          <p:cNvSpPr txBox="1"/>
          <p:nvPr/>
        </p:nvSpPr>
        <p:spPr>
          <a:xfrm>
            <a:off x="1413816" y="1103042"/>
            <a:ext cx="10429068" cy="465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Workflow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Hiển </a:t>
            </a:r>
            <a:r>
              <a:rPr lang="en-US" sz="2000" dirty="0" err="1"/>
              <a:t>thị</a:t>
            </a:r>
            <a:r>
              <a:rPr lang="en-US" sz="2000" dirty="0"/>
              <a:t> menu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/>
              <a:t>Nhập</a:t>
            </a:r>
            <a:r>
              <a:rPr lang="en-US" sz="2000" dirty="0"/>
              <a:t> </a:t>
            </a:r>
            <a:r>
              <a:rPr lang="en-US" sz="2000" dirty="0" err="1"/>
              <a:t>lựa</a:t>
            </a:r>
            <a:r>
              <a:rPr lang="en-US" sz="2000" dirty="0"/>
              <a:t> </a:t>
            </a:r>
            <a:r>
              <a:rPr lang="en-US" sz="2000" dirty="0" err="1"/>
              <a:t>chọn</a:t>
            </a:r>
            <a:endParaRPr lang="en-US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thi</a:t>
            </a:r>
            <a:r>
              <a:rPr lang="en-US" sz="2000" dirty="0"/>
              <a:t> </a:t>
            </a:r>
            <a:r>
              <a:rPr lang="en-US" sz="2000" dirty="0" err="1"/>
              <a:t>chức</a:t>
            </a:r>
            <a:r>
              <a:rPr lang="en-US" sz="2000" dirty="0"/>
              <a:t> </a:t>
            </a:r>
            <a:r>
              <a:rPr lang="en-US" sz="2000" dirty="0" err="1"/>
              <a:t>năng</a:t>
            </a:r>
            <a:endParaRPr lang="en-US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In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endParaRPr lang="en-US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Quay </a:t>
            </a:r>
            <a:r>
              <a:rPr lang="en-US" sz="2000" dirty="0" err="1"/>
              <a:t>lại</a:t>
            </a:r>
            <a:r>
              <a:rPr lang="en-US" sz="2000" dirty="0"/>
              <a:t> menu</a:t>
            </a:r>
          </a:p>
          <a:p>
            <a:pPr>
              <a:lnSpc>
                <a:spcPct val="150000"/>
              </a:lnSpc>
            </a:pPr>
            <a:r>
              <a:rPr lang="en-VN" sz="2000" dirty="0"/>
              <a:t> </a:t>
            </a:r>
            <a:r>
              <a:rPr lang="en-US" sz="2000" b="1" dirty="0" err="1"/>
              <a:t>Kiến</a:t>
            </a:r>
            <a:r>
              <a:rPr lang="en-US" sz="2000" b="1" dirty="0"/>
              <a:t> </a:t>
            </a:r>
            <a:r>
              <a:rPr lang="en-US" sz="2000" b="1" dirty="0" err="1"/>
              <a:t>thức</a:t>
            </a:r>
            <a:r>
              <a:rPr lang="en-US" sz="2000" b="1" dirty="0"/>
              <a:t> </a:t>
            </a:r>
            <a:r>
              <a:rPr lang="en-US" sz="2000" b="1" dirty="0" err="1"/>
              <a:t>áp</a:t>
            </a:r>
            <a:r>
              <a:rPr lang="en-US" sz="2000" b="1" dirty="0"/>
              <a:t> </a:t>
            </a:r>
            <a:r>
              <a:rPr lang="en-US" sz="2000" b="1" dirty="0" err="1"/>
              <a:t>dụng</a:t>
            </a:r>
            <a:r>
              <a:rPr lang="en-US" sz="2000" b="1" dirty="0"/>
              <a:t>: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do-while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switch-case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Scanner</a:t>
            </a:r>
          </a:p>
        </p:txBody>
      </p:sp>
    </p:spTree>
    <p:extLst>
      <p:ext uri="{BB962C8B-B14F-4D97-AF65-F5344CB8AC3E}">
        <p14:creationId xmlns:p14="http://schemas.microsoft.com/office/powerpoint/2010/main" val="35421149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17BD7321-1F87-BEFC-A341-FB62E4833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5510AB68-07BF-E5E5-44F0-4375E2B9AD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09150"/>
            <a:ext cx="90909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</a:pPr>
            <a:r>
              <a:rPr lang="en-US" dirty="0"/>
              <a:t>12.YÊU CẦU KĨ THUẬT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A02A46-5428-75A1-7254-F16C48DF8A30}"/>
              </a:ext>
            </a:extLst>
          </p:cNvPr>
          <p:cNvSpPr txBox="1"/>
          <p:nvPr/>
        </p:nvSpPr>
        <p:spPr>
          <a:xfrm>
            <a:off x="1404257" y="1214773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 dirty="0"/>
              <a:t>Technical Requirements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800" dirty="0"/>
              <a:t>Java JDK 8+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800" dirty="0"/>
              <a:t>Console Application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800" dirty="0"/>
              <a:t>Không dùng thư viện nâng cao</a:t>
            </a:r>
          </a:p>
          <a:p>
            <a:pPr>
              <a:lnSpc>
                <a:spcPct val="150000"/>
              </a:lnSpc>
              <a:buNone/>
            </a:pPr>
            <a:r>
              <a:rPr lang="vi-VN" sz="1800" b="1" dirty="0"/>
              <a:t>Trọng tâm học:</a:t>
            </a:r>
            <a:endParaRPr lang="vi-VN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800" dirty="0"/>
              <a:t>Logic &gt; Code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800" dirty="0"/>
              <a:t>Hiểu bản chất bài toán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1800" dirty="0"/>
              <a:t>Viết code dễ đọc</a:t>
            </a:r>
          </a:p>
        </p:txBody>
      </p:sp>
    </p:spTree>
    <p:extLst>
      <p:ext uri="{BB962C8B-B14F-4D97-AF65-F5344CB8AC3E}">
        <p14:creationId xmlns:p14="http://schemas.microsoft.com/office/powerpoint/2010/main" val="121507429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9BE67931-EC4B-EE4C-1F13-9FD2765D8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ca9f35dc4_0_11">
            <a:extLst>
              <a:ext uri="{FF2B5EF4-FFF2-40B4-BE49-F238E27FC236}">
                <a16:creationId xmlns:a16="http://schemas.microsoft.com/office/drawing/2014/main" id="{3BF3D894-177E-51C2-0DD7-75C284A1F3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399" y="901020"/>
            <a:ext cx="9174997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100" dirty="0"/>
              <a:t>13. KẾT LUẬN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</a:t>
            </a:r>
            <a:r>
              <a:rPr lang="vi-VN" dirty="0"/>
              <a:t/>
            </a:r>
            <a:br>
              <a:rPr lang="vi-VN" dirty="0"/>
            </a:b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0151E6-B298-3D4D-BE0B-DD09BB96A48D}"/>
              </a:ext>
            </a:extLst>
          </p:cNvPr>
          <p:cNvSpPr txBox="1"/>
          <p:nvPr/>
        </p:nvSpPr>
        <p:spPr>
          <a:xfrm>
            <a:off x="3713356" y="747132"/>
            <a:ext cx="184731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endParaRPr lang="en-V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F2469C-0490-D4E7-D8B0-42F28D7A1C11}"/>
              </a:ext>
            </a:extLst>
          </p:cNvPr>
          <p:cNvSpPr txBox="1"/>
          <p:nvPr/>
        </p:nvSpPr>
        <p:spPr>
          <a:xfrm>
            <a:off x="914399" y="1373820"/>
            <a:ext cx="10894742" cy="1420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 dirty="0"/>
              <a:t>Củng cố Java cơ bản</a:t>
            </a:r>
          </a:p>
          <a:p>
            <a:pPr>
              <a:lnSpc>
                <a:spcPct val="150000"/>
              </a:lnSpc>
            </a:pPr>
            <a:r>
              <a:rPr lang="vi-VN" sz="2000" dirty="0"/>
              <a:t>Rèn tư duy giải bài</a:t>
            </a:r>
          </a:p>
          <a:p>
            <a:pPr>
              <a:lnSpc>
                <a:spcPct val="150000"/>
              </a:lnSpc>
            </a:pPr>
            <a:r>
              <a:rPr lang="vi-VN" sz="2000" dirty="0"/>
              <a:t>Nền tảng cho OOP &amp; DSA</a:t>
            </a:r>
          </a:p>
        </p:txBody>
      </p:sp>
      <p:pic>
        <p:nvPicPr>
          <p:cNvPr id="2050" name="Picture 2" descr="Tư duy phản biện là gì? Cách rèn luyện tư duy phản biệ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3266881"/>
            <a:ext cx="2926484" cy="219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ập trình hướng đối tượng (OOP): Tư duy cốt lõi trong phát triển phần mềm  hiện đại - Open Knowled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801" y="3118496"/>
            <a:ext cx="2474191" cy="2491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DSA là gì trong lập trình? Cách học DSA để tăng hiệu quả công việ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08" y="3386954"/>
            <a:ext cx="2880302" cy="180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766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 txBox="1">
            <a:spLocks noGrp="1"/>
          </p:cNvSpPr>
          <p:nvPr>
            <p:ph type="ctrTitle"/>
          </p:nvPr>
        </p:nvSpPr>
        <p:spPr>
          <a:xfrm>
            <a:off x="279991" y="3969209"/>
            <a:ext cx="9144000" cy="1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</a:pPr>
            <a:r>
              <a:rPr lang="en-US" dirty="0"/>
              <a:t>KẾT THÚC</a:t>
            </a:r>
            <a:endParaRPr dirty="0"/>
          </a:p>
        </p:txBody>
      </p:sp>
      <p:sp>
        <p:nvSpPr>
          <p:cNvPr id="252" name="Google Shape;252;p19"/>
          <p:cNvSpPr txBox="1">
            <a:spLocks noGrp="1"/>
          </p:cNvSpPr>
          <p:nvPr>
            <p:ph type="subTitle" idx="1"/>
          </p:nvPr>
        </p:nvSpPr>
        <p:spPr>
          <a:xfrm>
            <a:off x="279991" y="543362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HỌC VIỆN ĐÀO TẠO LẬP TRÌNH CHẤT LƯỢNG NHẬT BẢN</a:t>
            </a:r>
            <a:endParaRPr/>
          </a:p>
        </p:txBody>
      </p:sp>
      <p:sp>
        <p:nvSpPr>
          <p:cNvPr id="3" name="Google Shape;251;p19">
            <a:extLst>
              <a:ext uri="{FF2B5EF4-FFF2-40B4-BE49-F238E27FC236}">
                <a16:creationId xmlns:a16="http://schemas.microsoft.com/office/drawing/2014/main" id="{20C7D954-D6BB-9656-1C32-E7C62031DDC8}"/>
              </a:ext>
            </a:extLst>
          </p:cNvPr>
          <p:cNvSpPr txBox="1">
            <a:spLocks/>
          </p:cNvSpPr>
          <p:nvPr/>
        </p:nvSpPr>
        <p:spPr>
          <a:xfrm>
            <a:off x="455089" y="2156641"/>
            <a:ext cx="12288146" cy="14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dirty="0"/>
              <a:t>CẢM ƠN MỌI NGƯỜI ĐÃ LẮNG NGHE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10073</TotalTime>
  <Words>704</Words>
  <Application>Microsoft Office PowerPoint</Application>
  <PresentationFormat>Widescreen</PresentationFormat>
  <Paragraphs>172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Montserrat ExtraBold</vt:lpstr>
      <vt:lpstr>Calibri</vt:lpstr>
      <vt:lpstr>Courier New</vt:lpstr>
      <vt:lpstr>Montserrat Medium</vt:lpstr>
      <vt:lpstr>Trebuchet MS</vt:lpstr>
      <vt:lpstr>Montserrat</vt:lpstr>
      <vt:lpstr>Montserrat Black</vt:lpstr>
      <vt:lpstr>Arial</vt:lpstr>
      <vt:lpstr>Office Theme</vt:lpstr>
      <vt:lpstr>ỨNG DỤNG CONSOLE JAVA </vt:lpstr>
      <vt:lpstr>1. GIỚI THIỆU DỰ ÁN</vt:lpstr>
      <vt:lpstr>2. ĐỐI TƯỢNG &amp; PHẠM VI</vt:lpstr>
      <vt:lpstr>3.CÔNG CỤ &amp; MÔI TRƯỜNG</vt:lpstr>
      <vt:lpstr>4.TỔNG QUAN HỆ THỐNG</vt:lpstr>
      <vt:lpstr>5.CẤU TRÚC CỦA CHƯƠNG TRÌNH</vt:lpstr>
      <vt:lpstr>6. MENU CHỨC NĂNG</vt:lpstr>
      <vt:lpstr>6. TWO SUM(FR1)</vt:lpstr>
      <vt:lpstr>7. MOVE ZEROES(FR2)</vt:lpstr>
      <vt:lpstr>8. VALID PALINDROME(FR3)</vt:lpstr>
      <vt:lpstr>9. REVERSE WORDS (FR4)</vt:lpstr>
      <vt:lpstr>10. HAPPY NUMBER (FR5)</vt:lpstr>
      <vt:lpstr>11.LUỒNG HOẠT ĐỘNG</vt:lpstr>
      <vt:lpstr>12.YÊU CẦU KĨ THUẬT</vt:lpstr>
      <vt:lpstr>13. KẾT LUẬN   </vt:lpstr>
      <vt:lpstr>KẾT THÚC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ỨNG DỤNG CV</dc:title>
  <dc:creator>QuangND</dc:creator>
  <cp:lastModifiedBy>Admin</cp:lastModifiedBy>
  <cp:revision>26</cp:revision>
  <dcterms:modified xsi:type="dcterms:W3CDTF">2026-01-29T07:06:14Z</dcterms:modified>
</cp:coreProperties>
</file>